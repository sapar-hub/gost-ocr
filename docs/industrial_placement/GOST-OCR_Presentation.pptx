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</p:sldMasterIdLst>
  <p:notesMasterIdLst>
    <p:notesMasterId r:id="rId13"/>
  </p:notesMasterIdLst>
  <p:sldIdLst>
    <p:sldId id="256" r:id="rId3"/>
    <p:sldId id="474" r:id="rId4"/>
    <p:sldId id="473" r:id="rId5"/>
    <p:sldId id="475" r:id="rId6"/>
    <p:sldId id="477" r:id="rId7"/>
    <p:sldId id="479" r:id="rId8"/>
    <p:sldId id="482" r:id="rId9"/>
    <p:sldId id="476" r:id="rId10"/>
    <p:sldId id="478" r:id="rId11"/>
    <p:sldId id="25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7194"/>
    <a:srgbClr val="176D88"/>
    <a:srgbClr val="0D8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7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19929-1C90-4CDF-A703-E3838E0E999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FB646-F9CF-4B26-85CE-BB1AFA5C2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17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1E3F-74F5-4BF6-8EDD-4D3CEB06E492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38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C548B-A3A1-4212-83AE-AD69E3A69076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4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BB98-9856-4307-9661-DE0E559F426F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2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BCEF-58B0-4B56-AE67-F6636FC558F5}" type="datetime1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40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5409C-1D70-4059-8BD8-769A7D85FF6B}" type="datetime1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80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E1C6B-0CE4-466C-8484-563C5ACDCE69}" type="datetime1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24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8DE1-3DC2-466D-993D-E9BA237020BA}" type="datetime1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95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D421-8F58-4793-A5E2-CF611E6F0203}" type="datetime1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2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6AE2-56F9-4D08-9DFB-9F719F9B3B57}" type="datetime1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58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8558-BB16-4F8F-A22D-22AF0969F92E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24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0E02-1FCF-402E-B79F-C33D8E9481B8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863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D2F8-F0EA-4FB5-877F-BFF5BF6736F2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97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B749-842C-4C36-B8C2-D326672B6C96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4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3F7F-E339-4BBD-A63B-2F60E63E8C13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024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5351F-7A44-4009-9005-E0B514F2615C}" type="datetime1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572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21022-B2C1-47BA-B19F-0B086CEF46E1}" type="datetime1">
              <a:rPr lang="ru-RU" smtClean="0"/>
              <a:t>25.03.2026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153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2E3C-E39F-49F4-A031-872BECC7F114}" type="datetime1">
              <a:rPr lang="ru-RU" smtClean="0"/>
              <a:t>25.03.2026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428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E96B-7827-465F-B72B-9D502532964B}" type="datetime1">
              <a:rPr lang="ru-RU" smtClean="0"/>
              <a:t>25.03.2026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243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3803F-014C-4209-8823-F6C7BD883D38}" type="datetime1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23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EC-310F-4556-A782-A0BFF3716BB2}" type="datetime1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168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A637-3353-4420-8F5C-BBF4B5AC710A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457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0A3FD-BD1B-4D99-9A98-1FE51251F2DD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75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892A2-5D9F-4F46-B469-2C440287D6D4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711FE-E0CB-4A18-917C-4CA1806A67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039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E460A-648A-4255-8045-513E5D1109D7}" type="datetime1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14993-5B25-4EB2-8585-C44A71EDF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65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12.xml"/><Relationship Id="rId4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" y="0"/>
            <a:ext cx="12192000" cy="1189881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076324" cy="118988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" y="6581775"/>
            <a:ext cx="12192000" cy="276225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338263" y="333330"/>
            <a:ext cx="95154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МИРЭА – Российский технологический университет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31178" y="1201935"/>
            <a:ext cx="103436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Институт кибербезопасности и цифровых</a:t>
            </a:r>
            <a:r>
              <a:rPr kumimoji="0" lang="ru-RU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технологий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baseline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Кафедра информатики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Учебная практика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ounded Rectangle 17"/>
          <p:cNvSpPr/>
          <p:nvPr/>
        </p:nvSpPr>
        <p:spPr>
          <a:xfrm>
            <a:off x="612396" y="2902178"/>
            <a:ext cx="10981189" cy="27199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4B7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ru-RU" sz="26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defRPr/>
            </a:pPr>
            <a:r>
              <a:rPr lang="ru-RU" sz="2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алгоритмов автоматизированного распознавания основных надписей технических чертежей (GOST-OCR)</a:t>
            </a:r>
          </a:p>
          <a:p>
            <a:pPr lvl="0" algn="ctr">
              <a:defRPr/>
            </a:pPr>
            <a:endParaRPr lang="ru-RU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defRPr/>
            </a:pPr>
            <a:r>
              <a:rPr lang="ru-RU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 группы БФБО-01-24</a:t>
            </a:r>
          </a:p>
          <a:p>
            <a:pPr lvl="0" algn="ctr">
              <a:defRPr/>
            </a:pPr>
            <a:r>
              <a:rPr lang="ru-RU" sz="24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Сапармурадов</a:t>
            </a:r>
            <a:r>
              <a:rPr lang="ru-RU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Сапармурат</a:t>
            </a:r>
          </a:p>
          <a:p>
            <a:pPr lvl="0" algn="ctr">
              <a:defRPr/>
            </a:pPr>
            <a:endParaRPr lang="ru-RU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defRPr/>
            </a:pPr>
            <a:endParaRPr lang="ru-RU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4C94F-8C3D-D80F-813C-A0A4A4BC5C94}"/>
              </a:ext>
            </a:extLst>
          </p:cNvPr>
          <p:cNvSpPr txBox="1"/>
          <p:nvPr/>
        </p:nvSpPr>
        <p:spPr>
          <a:xfrm>
            <a:off x="2769065" y="6051082"/>
            <a:ext cx="61029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Москва 2026 г.</a:t>
            </a:r>
          </a:p>
        </p:txBody>
      </p:sp>
    </p:spTree>
    <p:extLst>
      <p:ext uri="{BB962C8B-B14F-4D97-AF65-F5344CB8AC3E}">
        <p14:creationId xmlns:p14="http://schemas.microsoft.com/office/powerpoint/2010/main" val="277198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"/>
          <p:cNvSpPr/>
          <p:nvPr/>
        </p:nvSpPr>
        <p:spPr>
          <a:xfrm>
            <a:off x="0" y="0"/>
            <a:ext cx="12192000" cy="587229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ln>
                  <a:noFill/>
                </a:ln>
                <a:solidFill>
                  <a:prstClr val="white"/>
                </a:solidFill>
                <a:latin typeface="Calibri"/>
              </a:rPr>
              <a:t>Актуальность</a:t>
            </a:r>
          </a:p>
        </p:txBody>
      </p:sp>
      <p:sp>
        <p:nvSpPr>
          <p:cNvPr id="7" name="Footer"/>
          <p:cNvSpPr/>
          <p:nvPr/>
        </p:nvSpPr>
        <p:spPr>
          <a:xfrm>
            <a:off x="0" y="6581775"/>
            <a:ext cx="12192000" cy="276225"/>
          </a:xfrm>
          <a:prstGeom prst="rect">
            <a:avLst/>
          </a:prstGeom>
          <a:solidFill>
            <a:srgbClr val="4B7194"/>
          </a:solidFill>
          <a:ln w="12700" cap="flat" cmpd="sng" algn="ctr">
            <a:solidFill>
              <a:srgbClr val="4B7194"/>
            </a:solidFill>
            <a:prstDash val="solid"/>
          </a:ln>
        </p:spPr>
        <p:txBody>
          <a:bodyPr rtlCol="0" anchor="ctr"/>
          <a:lstStyle/>
          <a:p>
            <a:endParaRPr lang="ru-RU" sz="1800" b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Num"/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2B14993-5B25-4EB2-8585-C44A71EDFC62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Content"/>
          <p:cNvSpPr txBox="1"/>
          <p:nvPr/>
        </p:nvSpPr>
        <p:spPr>
          <a:xfrm>
            <a:off x="563334" y="816467"/>
            <a:ext cx="11095264" cy="13805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9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Контекст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АО «Метрогипротранс» накопил огромные массивы архивной технической документации, переводимой в электронный вид путём сканирования.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Сканирование создаёт лишь графические копии – структурированные метаданные теряются.</a:t>
            </a:r>
            <a:endParaRPr lang="ru-RU" sz="1000" b="0" dirty="0">
              <a:solidFill>
                <a:prstClr val="black"/>
              </a:solidFill>
              <a:latin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7">
                <a:extLst>
                  <a:ext uri="{FF2B5EF4-FFF2-40B4-BE49-F238E27FC236}">
                    <a16:creationId xmlns:a16="http://schemas.microsoft.com/office/drawing/2014/main" id="{CE104A2F-E6E6-3472-6967-6A9E50E10F8B}"/>
                  </a:ext>
                </a:extLst>
              </p:cNvPr>
              <p:cNvSpPr/>
              <p:nvPr/>
            </p:nvSpPr>
            <p:spPr>
              <a:xfrm>
                <a:off x="6200774" y="2237016"/>
                <a:ext cx="5559850" cy="3979634"/>
              </a:xfrm>
              <a:prstGeom prst="roundRect">
                <a:avLst>
                  <a:gd name="adj" fmla="val 285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4B719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ru-RU" sz="2000" b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Решение </a:t>
                </a:r>
                <a:r>
                  <a:rPr lang="ru-RU" sz="2000" i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(После)</a:t>
                </a:r>
              </a:p>
              <a:p>
                <a:pPr marL="342900" marR="0" lvl="0" indent="-342900" algn="l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:r>
                  <a:rPr lang="ru-RU" sz="2000" b="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Автоматизация с помощью алгоритмов машинного обучения (ML) для повышения эффективности</a:t>
                </a:r>
              </a:p>
              <a:p>
                <a:pPr marL="342900" marR="0" lvl="0" indent="-342900" algn="l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:endParaRPr lang="ru-RU" sz="20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342900" marR="0" lvl="0" indent="-342900" algn="l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14:m>
                  <m:oMath xmlns:m="http://schemas.openxmlformats.org/officeDocument/2006/math">
                    <m:r>
                      <a:rPr lang="ru-RU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±</m:t>
                    </m:r>
                  </m:oMath>
                </a14:m>
                <a:r>
                  <a:rPr lang="ru-RU" sz="2000" b="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10 секунд на обработку, </a:t>
                </a:r>
                <a:r>
                  <a:rPr lang="ru-RU" sz="20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з</a:t>
                </a:r>
                <a:r>
                  <a:rPr lang="ru-RU" sz="2000" b="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начительное ускорение по сравнению с ручным вводом</a:t>
                </a:r>
              </a:p>
              <a:p>
                <a:pPr marL="342900" marR="0" lvl="0" indent="-342900" algn="l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:endParaRPr lang="ru-RU" sz="2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342900" marR="0" lvl="0" indent="-342900" algn="l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:r>
                  <a:rPr lang="ru-RU" sz="2000" b="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Точный JSON-формат, структурированный вывод метаданных без потери данных</a:t>
                </a:r>
              </a:p>
            </p:txBody>
          </p:sp>
        </mc:Choice>
        <mc:Fallback>
          <p:sp>
            <p:nvSpPr>
              <p:cNvPr id="2" name="Rounded Rectangle 17">
                <a:extLst>
                  <a:ext uri="{FF2B5EF4-FFF2-40B4-BE49-F238E27FC236}">
                    <a16:creationId xmlns:a16="http://schemas.microsoft.com/office/drawing/2014/main" id="{CE104A2F-E6E6-3472-6967-6A9E50E10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774" y="2237016"/>
                <a:ext cx="5559850" cy="3979634"/>
              </a:xfrm>
              <a:prstGeom prst="roundRect">
                <a:avLst>
                  <a:gd name="adj" fmla="val 2852"/>
                </a:avLst>
              </a:prstGeom>
              <a:blipFill>
                <a:blip r:embed="rId2"/>
                <a:stretch>
                  <a:fillRect l="-219" b="-1221"/>
                </a:stretch>
              </a:blipFill>
              <a:ln>
                <a:solidFill>
                  <a:srgbClr val="4B719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17">
                <a:extLst>
                  <a:ext uri="{FF2B5EF4-FFF2-40B4-BE49-F238E27FC236}">
                    <a16:creationId xmlns:a16="http://schemas.microsoft.com/office/drawing/2014/main" id="{DA1F2104-92A6-C322-33E6-49D3284894C9}"/>
                  </a:ext>
                </a:extLst>
              </p:cNvPr>
              <p:cNvSpPr/>
              <p:nvPr/>
            </p:nvSpPr>
            <p:spPr>
              <a:xfrm>
                <a:off x="431376" y="2237014"/>
                <a:ext cx="5559851" cy="3979635"/>
              </a:xfrm>
              <a:prstGeom prst="roundRect">
                <a:avLst>
                  <a:gd name="adj" fmla="val 381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4B719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ru-RU" sz="2000" b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Проблема </a:t>
                </a:r>
                <a:r>
                  <a:rPr lang="ru-RU" sz="2000" i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(До)</a:t>
                </a:r>
              </a:p>
              <a:p>
                <a:pPr marL="342900" marR="0" lvl="0" indent="-342900" algn="l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:r>
                  <a:rPr lang="ru-RU" sz="2000" b="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Ручной ввод метаданных (шифр, номер листа) из основной надписи (ОН) – трудоёмкий и медленный процесс обработки архивов</a:t>
                </a:r>
              </a:p>
              <a:p>
                <a:pPr marL="342900" marR="0" lvl="0" indent="-342900" algn="l" defTabSz="914400" rtl="0" eaLnBrk="1" fontAlgn="auto" latinLnBrk="0" hangingPunct="1"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:endParaRPr lang="ru-RU" sz="20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342900" lvl="0" indent="-342900"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14:m>
                  <m:oMath xmlns:m="http://schemas.openxmlformats.org/officeDocument/2006/math">
                    <m:r>
                      <a:rPr lang="ru-RU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±</m:t>
                    </m:r>
                  </m:oMath>
                </a14:m>
                <a:r>
                  <a:rPr lang="ru-RU" sz="20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5 минут на чертёж, высокие временные затраты на каждый документ</a:t>
                </a:r>
              </a:p>
              <a:p>
                <a:pPr marL="342900" lvl="0" indent="-342900"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:endParaRPr lang="ru-RU" sz="20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342900" lvl="0" indent="-342900">
                  <a:spcAft>
                    <a:spcPts val="200"/>
                  </a:spcAft>
                  <a:buFont typeface="Arial" panose="020B0604020202020204" pitchFamily="34" charset="0"/>
                  <a:buChar char="–"/>
                </a:pPr>
                <a:r>
                  <a:rPr lang="ru-RU" sz="2000" b="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Человеческий фактор, высокий риск ошибок при ручной обработке</a:t>
                </a:r>
              </a:p>
            </p:txBody>
          </p:sp>
        </mc:Choice>
        <mc:Fallback>
          <p:sp>
            <p:nvSpPr>
              <p:cNvPr id="3" name="Rounded Rectangle 17">
                <a:extLst>
                  <a:ext uri="{FF2B5EF4-FFF2-40B4-BE49-F238E27FC236}">
                    <a16:creationId xmlns:a16="http://schemas.microsoft.com/office/drawing/2014/main" id="{DA1F2104-92A6-C322-33E6-49D328489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76" y="2237014"/>
                <a:ext cx="5559851" cy="3979635"/>
              </a:xfrm>
              <a:prstGeom prst="roundRect">
                <a:avLst>
                  <a:gd name="adj" fmla="val 3812"/>
                </a:avLst>
              </a:prstGeom>
              <a:blipFill>
                <a:blip r:embed="rId3"/>
                <a:stretch>
                  <a:fillRect l="-109" r="-438"/>
                </a:stretch>
              </a:blipFill>
              <a:ln>
                <a:solidFill>
                  <a:srgbClr val="4B719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"/>
          <p:cNvSpPr/>
          <p:nvPr/>
        </p:nvSpPr>
        <p:spPr>
          <a:xfrm>
            <a:off x="0" y="0"/>
            <a:ext cx="12192000" cy="587229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ln>
                  <a:noFill/>
                </a:ln>
                <a:solidFill>
                  <a:prstClr val="white"/>
                </a:solidFill>
                <a:latin typeface="Calibri"/>
              </a:rPr>
              <a:t>Цель, задачи, объект и предмет исследования</a:t>
            </a:r>
          </a:p>
        </p:txBody>
      </p:sp>
      <p:sp>
        <p:nvSpPr>
          <p:cNvPr id="7" name="Footer"/>
          <p:cNvSpPr/>
          <p:nvPr/>
        </p:nvSpPr>
        <p:spPr>
          <a:xfrm>
            <a:off x="0" y="6581775"/>
            <a:ext cx="12192000" cy="276225"/>
          </a:xfrm>
          <a:prstGeom prst="rect">
            <a:avLst/>
          </a:prstGeom>
          <a:solidFill>
            <a:srgbClr val="4B7194"/>
          </a:solidFill>
          <a:ln w="12700" cap="flat" cmpd="sng" algn="ctr">
            <a:solidFill>
              <a:srgbClr val="4B7194"/>
            </a:solidFill>
            <a:prstDash val="solid"/>
          </a:ln>
        </p:spPr>
        <p:txBody>
          <a:bodyPr rtlCol="0" anchor="ctr"/>
          <a:lstStyle/>
          <a:p>
            <a:endParaRPr lang="ru-RU" sz="1800" b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Num"/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3B14993-5B25-4EB2-8585-C44A71EDFC63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8" name="Content"/>
          <p:cNvSpPr txBox="1"/>
          <p:nvPr/>
        </p:nvSpPr>
        <p:spPr>
          <a:xfrm>
            <a:off x="1090614" y="762906"/>
            <a:ext cx="9921824" cy="301715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9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Цель</a:t>
            </a:r>
          </a:p>
          <a:p>
            <a:pPr marR="0" lvl="0" algn="just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Разработка программных алгоритмов с применением методов ML для автоматизации перевода аналоговых чертежей в цифровой вид (локализация и распознавание ОН).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ru-RU" sz="1000" b="0" dirty="0">
              <a:solidFill>
                <a:prstClr val="black"/>
              </a:solidFill>
              <a:latin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9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Объект исследования</a:t>
            </a:r>
          </a:p>
          <a:p>
            <a:pPr marR="0" lvl="0" algn="just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Процессы и алгоритмы обработки изображений для извлечения текста из графических документов.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ru-RU" sz="1000" b="0" dirty="0">
              <a:solidFill>
                <a:prstClr val="black"/>
              </a:solidFill>
              <a:latin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9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Предмет исследования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Применение ML-алгоритмов для разработки программного конвейера распознавания ОН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ru-RU" sz="1000" b="0" dirty="0">
              <a:solidFill>
                <a:prstClr val="black"/>
              </a:solidFill>
              <a:latin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9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Задачи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E8C7E17-277D-CD9E-67F5-02FAFC7E4F42}"/>
              </a:ext>
            </a:extLst>
          </p:cNvPr>
          <p:cNvGrpSpPr/>
          <p:nvPr/>
        </p:nvGrpSpPr>
        <p:grpSpPr>
          <a:xfrm>
            <a:off x="1090615" y="3649205"/>
            <a:ext cx="4744128" cy="1257300"/>
            <a:chOff x="1090615" y="3649205"/>
            <a:chExt cx="4744128" cy="1257300"/>
          </a:xfrm>
        </p:grpSpPr>
        <p:sp>
          <p:nvSpPr>
            <p:cNvPr id="2" name="Rounded Rectangle 17">
              <a:extLst>
                <a:ext uri="{FF2B5EF4-FFF2-40B4-BE49-F238E27FC236}">
                  <a16:creationId xmlns:a16="http://schemas.microsoft.com/office/drawing/2014/main" id="{7B36329F-CCBB-BAA3-2FE3-9C75AF584724}"/>
                </a:ext>
              </a:extLst>
            </p:cNvPr>
            <p:cNvSpPr/>
            <p:nvPr/>
          </p:nvSpPr>
          <p:spPr>
            <a:xfrm>
              <a:off x="1090616" y="3649205"/>
              <a:ext cx="4744127" cy="12573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4B71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endParaRPr lang="ru-RU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  <a:p>
              <a:pPr marR="0" lvl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r>
                <a:rPr lang="ru-RU" sz="16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Исследование проблематики и стандартов ГОСТ (ГОСТ 2.104-2006, ГОСТ Р 21.101-2020)</a:t>
              </a:r>
            </a:p>
          </p:txBody>
        </p:sp>
        <p:sp>
          <p:nvSpPr>
            <p:cNvPr id="10" name="Rounded Rectangle 17">
              <a:extLst>
                <a:ext uri="{FF2B5EF4-FFF2-40B4-BE49-F238E27FC236}">
                  <a16:creationId xmlns:a16="http://schemas.microsoft.com/office/drawing/2014/main" id="{8AFB8EE8-3C84-BC7E-E6DA-77090942CAAC}"/>
                </a:ext>
              </a:extLst>
            </p:cNvPr>
            <p:cNvSpPr/>
            <p:nvPr/>
          </p:nvSpPr>
          <p:spPr>
            <a:xfrm>
              <a:off x="1090615" y="3649205"/>
              <a:ext cx="4744127" cy="40383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4B71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r>
                <a:rPr lang="ru-RU" sz="16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ru-RU" sz="16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3846E27-3372-F339-A511-2F0B887349D4}"/>
              </a:ext>
            </a:extLst>
          </p:cNvPr>
          <p:cNvGrpSpPr/>
          <p:nvPr/>
        </p:nvGrpSpPr>
        <p:grpSpPr>
          <a:xfrm>
            <a:off x="6268312" y="3649205"/>
            <a:ext cx="4744128" cy="1257300"/>
            <a:chOff x="1090615" y="3649205"/>
            <a:chExt cx="4744128" cy="1257300"/>
          </a:xfrm>
        </p:grpSpPr>
        <p:sp>
          <p:nvSpPr>
            <p:cNvPr id="13" name="Rounded Rectangle 17">
              <a:extLst>
                <a:ext uri="{FF2B5EF4-FFF2-40B4-BE49-F238E27FC236}">
                  <a16:creationId xmlns:a16="http://schemas.microsoft.com/office/drawing/2014/main" id="{9C8FB0E8-99B8-FD89-646E-BC26FDA1B189}"/>
                </a:ext>
              </a:extLst>
            </p:cNvPr>
            <p:cNvSpPr/>
            <p:nvPr/>
          </p:nvSpPr>
          <p:spPr>
            <a:xfrm>
              <a:off x="1090616" y="3649205"/>
              <a:ext cx="4744127" cy="12573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4B71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endParaRPr lang="ru-RU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  <a:p>
              <a:pPr marR="0" lvl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r>
                <a:rPr lang="ru-RU" sz="16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Проектирование архитектуры и выбор стека: Python, </a:t>
              </a:r>
              <a:r>
                <a:rPr lang="ru-RU" sz="1600" b="0" dirty="0" err="1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OpenCV</a:t>
              </a:r>
              <a:r>
                <a:rPr lang="ru-RU" sz="16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ru-RU" sz="1600" b="0" dirty="0" err="1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EasyOCR</a:t>
              </a:r>
              <a:endParaRPr lang="ru-RU" sz="16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ounded Rectangle 17">
              <a:extLst>
                <a:ext uri="{FF2B5EF4-FFF2-40B4-BE49-F238E27FC236}">
                  <a16:creationId xmlns:a16="http://schemas.microsoft.com/office/drawing/2014/main" id="{F451E942-13A8-7431-6082-1689B1CDFA07}"/>
                </a:ext>
              </a:extLst>
            </p:cNvPr>
            <p:cNvSpPr/>
            <p:nvPr/>
          </p:nvSpPr>
          <p:spPr>
            <a:xfrm>
              <a:off x="1090615" y="3649205"/>
              <a:ext cx="4744127" cy="40383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4B71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r>
                <a:rPr lang="ru-RU" sz="16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696F584-2AAD-1136-A4AA-44E7AD774BEA}"/>
              </a:ext>
            </a:extLst>
          </p:cNvPr>
          <p:cNvGrpSpPr/>
          <p:nvPr/>
        </p:nvGrpSpPr>
        <p:grpSpPr>
          <a:xfrm>
            <a:off x="1090614" y="4994274"/>
            <a:ext cx="4744128" cy="1257300"/>
            <a:chOff x="1090615" y="3649205"/>
            <a:chExt cx="4744128" cy="1257300"/>
          </a:xfrm>
        </p:grpSpPr>
        <p:sp>
          <p:nvSpPr>
            <p:cNvPr id="16" name="Rounded Rectangle 17">
              <a:extLst>
                <a:ext uri="{FF2B5EF4-FFF2-40B4-BE49-F238E27FC236}">
                  <a16:creationId xmlns:a16="http://schemas.microsoft.com/office/drawing/2014/main" id="{CABA5240-3777-0EF1-05A2-2D6B9E6FAD63}"/>
                </a:ext>
              </a:extLst>
            </p:cNvPr>
            <p:cNvSpPr/>
            <p:nvPr/>
          </p:nvSpPr>
          <p:spPr>
            <a:xfrm>
              <a:off x="1090616" y="3649205"/>
              <a:ext cx="4744127" cy="12573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4B71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endParaRPr lang="ru-RU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  <a:p>
              <a:pPr marR="0" lvl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r>
                <a:rPr lang="ru-RU" sz="16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Разработка модулей предобработки, локализации и OCR</a:t>
              </a:r>
            </a:p>
          </p:txBody>
        </p:sp>
        <p:sp>
          <p:nvSpPr>
            <p:cNvPr id="17" name="Rounded Rectangle 17">
              <a:extLst>
                <a:ext uri="{FF2B5EF4-FFF2-40B4-BE49-F238E27FC236}">
                  <a16:creationId xmlns:a16="http://schemas.microsoft.com/office/drawing/2014/main" id="{0B8C6F2E-9E73-CB14-E939-CB9192678555}"/>
                </a:ext>
              </a:extLst>
            </p:cNvPr>
            <p:cNvSpPr/>
            <p:nvPr/>
          </p:nvSpPr>
          <p:spPr>
            <a:xfrm>
              <a:off x="1090615" y="3649205"/>
              <a:ext cx="4744127" cy="40383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4B71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r>
                <a:rPr lang="ru-RU" sz="16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873E44A8-1476-D982-D769-AFF02BC39521}"/>
              </a:ext>
            </a:extLst>
          </p:cNvPr>
          <p:cNvGrpSpPr/>
          <p:nvPr/>
        </p:nvGrpSpPr>
        <p:grpSpPr>
          <a:xfrm>
            <a:off x="6268311" y="5000169"/>
            <a:ext cx="4744128" cy="1257300"/>
            <a:chOff x="1090615" y="3649205"/>
            <a:chExt cx="4744128" cy="1257300"/>
          </a:xfrm>
        </p:grpSpPr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id="{F3EBC6E0-46B7-508F-A8B3-21AB10215B00}"/>
                </a:ext>
              </a:extLst>
            </p:cNvPr>
            <p:cNvSpPr/>
            <p:nvPr/>
          </p:nvSpPr>
          <p:spPr>
            <a:xfrm>
              <a:off x="1090616" y="3649205"/>
              <a:ext cx="4744127" cy="12573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4B71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endParaRPr lang="ru-RU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  <a:p>
              <a:pPr marR="0" lvl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r>
                <a:rPr lang="ru-RU" sz="1600" b="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Тестирование прототипа и анализ результатов</a:t>
              </a:r>
            </a:p>
          </p:txBody>
        </p:sp>
        <p:sp>
          <p:nvSpPr>
            <p:cNvPr id="20" name="Rounded Rectangle 17">
              <a:extLst>
                <a:ext uri="{FF2B5EF4-FFF2-40B4-BE49-F238E27FC236}">
                  <a16:creationId xmlns:a16="http://schemas.microsoft.com/office/drawing/2014/main" id="{6E17DB2F-BD33-41D5-D4C5-85586ED0A434}"/>
                </a:ext>
              </a:extLst>
            </p:cNvPr>
            <p:cNvSpPr/>
            <p:nvPr/>
          </p:nvSpPr>
          <p:spPr>
            <a:xfrm>
              <a:off x="1090615" y="3649205"/>
              <a:ext cx="4744127" cy="40383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4B71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</a:pPr>
              <a:r>
                <a:rPr lang="ru-RU" sz="16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"/>
          <p:cNvSpPr/>
          <p:nvPr/>
        </p:nvSpPr>
        <p:spPr>
          <a:xfrm>
            <a:off x="0" y="0"/>
            <a:ext cx="12192000" cy="587229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ln>
                  <a:noFill/>
                </a:ln>
                <a:solidFill>
                  <a:prstClr val="white"/>
                </a:solidFill>
                <a:latin typeface="Calibri"/>
              </a:rPr>
              <a:t>Границы проекта и ограничения</a:t>
            </a:r>
          </a:p>
        </p:txBody>
      </p:sp>
      <p:sp>
        <p:nvSpPr>
          <p:cNvPr id="7" name="Footer"/>
          <p:cNvSpPr/>
          <p:nvPr/>
        </p:nvSpPr>
        <p:spPr>
          <a:xfrm>
            <a:off x="0" y="6581775"/>
            <a:ext cx="12192000" cy="276225"/>
          </a:xfrm>
          <a:prstGeom prst="rect">
            <a:avLst/>
          </a:prstGeom>
          <a:solidFill>
            <a:srgbClr val="4B7194"/>
          </a:solidFill>
          <a:ln w="12700" cap="flat" cmpd="sng" algn="ctr">
            <a:solidFill>
              <a:srgbClr val="4B7194"/>
            </a:solidFill>
            <a:prstDash val="solid"/>
          </a:ln>
        </p:spPr>
        <p:txBody>
          <a:bodyPr rtlCol="0" anchor="ctr"/>
          <a:lstStyle/>
          <a:p>
            <a:endParaRPr lang="ru-RU" sz="1800" b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Num"/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4B14993-5B25-4EB2-8585-C44A71EDFC64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8" name="Content"/>
          <p:cNvSpPr txBox="1"/>
          <p:nvPr/>
        </p:nvSpPr>
        <p:spPr>
          <a:xfrm>
            <a:off x="304800" y="906763"/>
            <a:ext cx="11582400" cy="47592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Входит в задачу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Автоматизация извлечения метаданных из основной надписи (штампа).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Локализация области ОН по стандартным пропорциям ГОСТ.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Распознавание текста (шифр, номер листа, наименование) с выводом в JSON.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ru-RU" sz="1050" b="0" dirty="0">
              <a:solidFill>
                <a:prstClr val="black"/>
              </a:solidFill>
              <a:latin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endParaRPr lang="ru-RU" sz="20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Исключено из задачи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Распознавание геометрии чертежа (линии, размеры) – критическая зона ответственности инженера.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Юридическая верификация: значима только скан-копия с ЭЦП.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ru-RU" sz="1050" b="0" dirty="0">
              <a:solidFill>
                <a:prstClr val="black"/>
              </a:solidFill>
              <a:latin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endParaRPr lang="ru-RU" sz="20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Ограничения системы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Сложные случаи (сильные повреждения, нестандартные штампы 1930-х гг.) передаются на ручную обработку.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Точность OCR зависит от качества исходного скана.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"/>
          <p:cNvSpPr/>
          <p:nvPr/>
        </p:nvSpPr>
        <p:spPr>
          <a:xfrm>
            <a:off x="0" y="0"/>
            <a:ext cx="12192000" cy="587229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ln>
                  <a:noFill/>
                </a:ln>
                <a:solidFill>
                  <a:prstClr val="white"/>
                </a:solidFill>
                <a:latin typeface="Calibri"/>
              </a:rPr>
              <a:t>Архитектура системы GOST-OCR</a:t>
            </a:r>
          </a:p>
        </p:txBody>
      </p:sp>
      <p:sp>
        <p:nvSpPr>
          <p:cNvPr id="7" name="Footer"/>
          <p:cNvSpPr/>
          <p:nvPr/>
        </p:nvSpPr>
        <p:spPr>
          <a:xfrm>
            <a:off x="0" y="6581775"/>
            <a:ext cx="12192000" cy="276225"/>
          </a:xfrm>
          <a:prstGeom prst="rect">
            <a:avLst/>
          </a:prstGeom>
          <a:solidFill>
            <a:srgbClr val="4B7194"/>
          </a:solidFill>
          <a:ln w="12700" cap="flat" cmpd="sng" algn="ctr">
            <a:solidFill>
              <a:srgbClr val="4B7194"/>
            </a:solidFill>
            <a:prstDash val="solid"/>
          </a:ln>
        </p:spPr>
        <p:txBody>
          <a:bodyPr rtlCol="0" anchor="ctr"/>
          <a:lstStyle/>
          <a:p>
            <a:endParaRPr lang="ru-RU" sz="1800" b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Num"/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5B14993-5B25-4EB2-8585-C44A71EDFC65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8" name="Content"/>
          <p:cNvSpPr txBox="1"/>
          <p:nvPr/>
        </p:nvSpPr>
        <p:spPr>
          <a:xfrm>
            <a:off x="304800" y="670000"/>
            <a:ext cx="11582400" cy="57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9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Конвейер обработки (Pipeline)</a:t>
            </a:r>
          </a:p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Предобработка  →  Локализация ОН  →  Интеллектуальный анализ (OCR)  →  Вывод JSON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ru-RU" sz="1000" b="0" dirty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C44E4EC-8FE7-F2ED-7C1E-CD4CDE16E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354" y="1468157"/>
            <a:ext cx="9135291" cy="4982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"/>
          <p:cNvSpPr/>
          <p:nvPr/>
        </p:nvSpPr>
        <p:spPr>
          <a:xfrm>
            <a:off x="0" y="0"/>
            <a:ext cx="12192000" cy="587229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ln>
                  <a:noFill/>
                </a:ln>
                <a:solidFill>
                  <a:prstClr val="white"/>
                </a:solidFill>
                <a:latin typeface="Calibri"/>
              </a:rPr>
              <a:t>Разработка и тестирование</a:t>
            </a:r>
          </a:p>
        </p:txBody>
      </p:sp>
      <p:sp>
        <p:nvSpPr>
          <p:cNvPr id="7" name="Footer"/>
          <p:cNvSpPr/>
          <p:nvPr/>
        </p:nvSpPr>
        <p:spPr>
          <a:xfrm>
            <a:off x="0" y="6581775"/>
            <a:ext cx="12192000" cy="276225"/>
          </a:xfrm>
          <a:prstGeom prst="rect">
            <a:avLst/>
          </a:prstGeom>
          <a:solidFill>
            <a:srgbClr val="4B7194"/>
          </a:solidFill>
          <a:ln w="12700" cap="flat" cmpd="sng" algn="ctr">
            <a:solidFill>
              <a:srgbClr val="4B7194"/>
            </a:solidFill>
            <a:prstDash val="solid"/>
          </a:ln>
        </p:spPr>
        <p:txBody>
          <a:bodyPr rtlCol="0" anchor="ctr"/>
          <a:lstStyle/>
          <a:p>
            <a:endParaRPr lang="ru-RU" sz="1800" b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Num"/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6B14993-5B25-4EB2-8585-C44A71EDFC66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8" name="Content"/>
          <p:cNvSpPr txBox="1"/>
          <p:nvPr/>
        </p:nvSpPr>
        <p:spPr>
          <a:xfrm>
            <a:off x="304800" y="643873"/>
            <a:ext cx="11582400" cy="28569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Технологический стек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4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Python, OpenCV (обработка изображений), EasyOCR (нейросетевое OCR), Typer (CLI).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Структура пакета gost_ocr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4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cli.py </a:t>
            </a:r>
            <a:r>
              <a:rPr lang="ru-RU" sz="14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 точка входа;		</a:t>
            </a:r>
            <a:r>
              <a:rPr lang="ru-RU" sz="14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preprocessing.py </a:t>
            </a:r>
            <a:r>
              <a:rPr lang="ru-RU" sz="14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 коррекция перекоса;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4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localization.py</a:t>
            </a:r>
            <a:r>
              <a:rPr lang="ru-RU" sz="14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поиск штампа; 	</a:t>
            </a:r>
            <a:r>
              <a:rPr lang="ru-RU" sz="14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extraction.py</a:t>
            </a:r>
            <a:r>
              <a:rPr lang="ru-RU" sz="14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OCR и JSON-вывод.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Формат вывода JSON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4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source_image_path, stamp_bounding_box, text_blocks (text + confidence + box), full_text.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4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Готов к интеграции в СЭД без дополнительной обработки.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Тестирование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14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20 изображений: качественные сканы + повороты, перекосы, артефакты. Флаг --debug: сохранение промежуточных шагов; --draw-all: визуализация контуров. Успешная локализация штампов на документах хорошего и среднего качества.</a:t>
            </a:r>
          </a:p>
        </p:txBody>
      </p:sp>
      <p:pic>
        <p:nvPicPr>
          <p:cNvPr id="11" name="Видео 10">
            <a:hlinkClick r:id="" action="ppaction://media"/>
            <a:extLst>
              <a:ext uri="{FF2B5EF4-FFF2-40B4-BE49-F238E27FC236}">
                <a16:creationId xmlns:a16="http://schemas.microsoft.com/office/drawing/2014/main" id="{4061B749-9227-E2E3-6AB4-67BBE265F47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2221" y="3448593"/>
            <a:ext cx="5713296" cy="30917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Видео 12">
            <a:hlinkClick r:id="" action="ppaction://media"/>
            <a:extLst>
              <a:ext uri="{FF2B5EF4-FFF2-40B4-BE49-F238E27FC236}">
                <a16:creationId xmlns:a16="http://schemas.microsoft.com/office/drawing/2014/main" id="{3AB04B0A-0AE3-E564-44F9-19D5A2F0100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40076" y="3448593"/>
            <a:ext cx="5713296" cy="30917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55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428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 mute="1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"/>
          <p:cNvSpPr/>
          <p:nvPr/>
        </p:nvSpPr>
        <p:spPr>
          <a:xfrm>
            <a:off x="0" y="0"/>
            <a:ext cx="12192000" cy="587229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ln>
                  <a:noFill/>
                </a:ln>
                <a:solidFill>
                  <a:prstClr val="white"/>
                </a:solidFill>
                <a:latin typeface="Calibri"/>
              </a:rPr>
              <a:t>Результаты</a:t>
            </a:r>
          </a:p>
        </p:txBody>
      </p:sp>
      <p:sp>
        <p:nvSpPr>
          <p:cNvPr id="7" name="Footer"/>
          <p:cNvSpPr/>
          <p:nvPr/>
        </p:nvSpPr>
        <p:spPr>
          <a:xfrm>
            <a:off x="0" y="6581775"/>
            <a:ext cx="12192000" cy="276225"/>
          </a:xfrm>
          <a:prstGeom prst="rect">
            <a:avLst/>
          </a:prstGeom>
          <a:solidFill>
            <a:srgbClr val="4B7194"/>
          </a:solidFill>
          <a:ln w="12700" cap="flat" cmpd="sng" algn="ctr">
            <a:solidFill>
              <a:srgbClr val="4B7194"/>
            </a:solidFill>
            <a:prstDash val="solid"/>
          </a:ln>
        </p:spPr>
        <p:txBody>
          <a:bodyPr rtlCol="0" anchor="ctr"/>
          <a:lstStyle/>
          <a:p>
            <a:endParaRPr lang="ru-RU" sz="1800" b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Num"/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7B14993-5B25-4EB2-8585-C44A71EDFC67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8" name="Content"/>
          <p:cNvSpPr txBox="1"/>
          <p:nvPr/>
        </p:nvSpPr>
        <p:spPr>
          <a:xfrm>
            <a:off x="304800" y="643873"/>
            <a:ext cx="11582400" cy="10194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Извлечённый текст в формате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JSON</a:t>
            </a:r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со всеми необходимыми метаданными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(путь к файлу, координаты ОН, распознанный текст, уверенность модели –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confidence</a:t>
            </a:r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Рисунок 15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8B1C725-FEF7-E401-727E-A853E8AA8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7"/>
          <a:stretch/>
        </p:blipFill>
        <p:spPr>
          <a:xfrm>
            <a:off x="538358" y="1445245"/>
            <a:ext cx="5411651" cy="23944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Рисунок 17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97C629F-55AC-1F19-5400-C4771CE3B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521" y="3921604"/>
            <a:ext cx="5417697" cy="25637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Рисунок 19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E63F32-218F-2D78-2F0C-5ABD6E16B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58" y="3909510"/>
            <a:ext cx="5405605" cy="25758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Рисунок 21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16D7F25-E898-1AA2-2C02-79E5E4ECAC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567" y="1445245"/>
            <a:ext cx="5405605" cy="23944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870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"/>
          <p:cNvSpPr/>
          <p:nvPr/>
        </p:nvSpPr>
        <p:spPr>
          <a:xfrm>
            <a:off x="0" y="0"/>
            <a:ext cx="12192000" cy="587229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ln>
                  <a:noFill/>
                </a:ln>
                <a:solidFill>
                  <a:prstClr val="white"/>
                </a:solidFill>
                <a:latin typeface="Calibri"/>
              </a:rPr>
              <a:t>Технико-экономическое обоснование</a:t>
            </a:r>
          </a:p>
        </p:txBody>
      </p:sp>
      <p:sp>
        <p:nvSpPr>
          <p:cNvPr id="7" name="Footer"/>
          <p:cNvSpPr/>
          <p:nvPr/>
        </p:nvSpPr>
        <p:spPr>
          <a:xfrm>
            <a:off x="0" y="6581775"/>
            <a:ext cx="12192000" cy="276225"/>
          </a:xfrm>
          <a:prstGeom prst="rect">
            <a:avLst/>
          </a:prstGeom>
          <a:solidFill>
            <a:srgbClr val="4B7194"/>
          </a:solidFill>
          <a:ln w="12700" cap="flat" cmpd="sng" algn="ctr">
            <a:solidFill>
              <a:srgbClr val="4B7194"/>
            </a:solidFill>
            <a:prstDash val="solid"/>
          </a:ln>
        </p:spPr>
        <p:txBody>
          <a:bodyPr rtlCol="0" anchor="ctr"/>
          <a:lstStyle/>
          <a:p>
            <a:endParaRPr lang="ru-RU" sz="1800" b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Num"/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7B14993-5B25-4EB2-8585-C44A71EDFC67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8" name="Content"/>
          <p:cNvSpPr txBox="1"/>
          <p:nvPr/>
        </p:nvSpPr>
        <p:spPr>
          <a:xfrm>
            <a:off x="345621" y="1012898"/>
            <a:ext cx="11582400" cy="47429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Исходные данные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Средняя зарплата сотрудника архива: 50 000 руб./мес.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Стоимость часа: ≈298 руб.</a:t>
            </a:r>
          </a:p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endParaRPr lang="ru-RU" sz="20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Стоимость ручной обработки одного листа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0,083 ч × 298 руб./ч = 24,73 руб. (5 минут/лист)</a:t>
            </a:r>
          </a:p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endParaRPr lang="ru-RU" sz="20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Стоимость автоматизированной обработки одного листа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0,0083 ч × 298 руб./ч = 2,47 руб. (10 сек машина + 20 сек верификация)</a:t>
            </a:r>
          </a:p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endParaRPr lang="ru-RU" sz="20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</a:pPr>
            <a:r>
              <a:rPr lang="ru-RU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Экономический эффект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Экономия на листе: 24,73 − 2,47 = 22,26 руб.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При объёме 2 000 листов/месяц: экономия 44 520 руб./месяц.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Годовой экономический эффект (24 000 листов): 534 240 </a:t>
            </a:r>
            <a:r>
              <a:rPr lang="ru-RU" b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руб</a:t>
            </a:r>
            <a:endParaRPr lang="ru-RU" b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"/>
          <p:cNvSpPr/>
          <p:nvPr/>
        </p:nvSpPr>
        <p:spPr>
          <a:xfrm>
            <a:off x="0" y="0"/>
            <a:ext cx="12192000" cy="587229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ln>
                  <a:noFill/>
                </a:ln>
                <a:solidFill>
                  <a:prstClr val="white"/>
                </a:solidFill>
                <a:latin typeface="Calibri"/>
              </a:rPr>
              <a:t>Заключение</a:t>
            </a:r>
          </a:p>
        </p:txBody>
      </p:sp>
      <p:sp>
        <p:nvSpPr>
          <p:cNvPr id="7" name="Footer"/>
          <p:cNvSpPr/>
          <p:nvPr/>
        </p:nvSpPr>
        <p:spPr>
          <a:xfrm>
            <a:off x="0" y="6581775"/>
            <a:ext cx="12192000" cy="276225"/>
          </a:xfrm>
          <a:prstGeom prst="rect">
            <a:avLst/>
          </a:prstGeom>
          <a:solidFill>
            <a:srgbClr val="4B7194"/>
          </a:solidFill>
          <a:ln w="12700" cap="flat" cmpd="sng" algn="ctr">
            <a:solidFill>
              <a:srgbClr val="4B7194"/>
            </a:solidFill>
            <a:prstDash val="solid"/>
          </a:ln>
        </p:spPr>
        <p:txBody>
          <a:bodyPr rtlCol="0" anchor="ctr"/>
          <a:lstStyle/>
          <a:p>
            <a:endParaRPr lang="ru-RU" sz="1800" b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Num"/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8B14993-5B25-4EB2-8585-C44A71EDFC68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8" name="Content"/>
          <p:cNvSpPr txBox="1"/>
          <p:nvPr/>
        </p:nvSpPr>
        <p:spPr>
          <a:xfrm>
            <a:off x="787082" y="5662640"/>
            <a:ext cx="10617833" cy="80625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9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Ключевые источники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ГОСТ 2.104-2006; ГОСТ Р 21.101-2020;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u-RU" sz="1700" b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Yadav</a:t>
            </a:r>
            <a:r>
              <a:rPr lang="ru-RU" sz="17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et al. (2023) OCR using CRNN; документация OpenCV и EasyOCR.</a:t>
            </a: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B35CA431-3BF1-F01A-9C7B-B35CAD461C5C}"/>
              </a:ext>
            </a:extLst>
          </p:cNvPr>
          <p:cNvSpPr/>
          <p:nvPr/>
        </p:nvSpPr>
        <p:spPr>
          <a:xfrm>
            <a:off x="605405" y="861182"/>
            <a:ext cx="10981189" cy="45275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4B7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Основные результаты</a:t>
            </a:r>
          </a:p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Разработан прототип GOST-OCR – конвейер обработки изображений с ML-моделью для распознавания текста из ОН технических чертежей.</a:t>
            </a:r>
          </a:p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Доказана принципиальная возможность и высокая экономическая эффективность автоматизации.</a:t>
            </a:r>
          </a:p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Получены практические навыки применения </a:t>
            </a:r>
            <a:r>
              <a:rPr lang="ru-RU" sz="2000" b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OpenCV</a:t>
            </a: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и </a:t>
            </a:r>
            <a:r>
              <a:rPr lang="ru-RU" sz="2000" b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EasyOCR</a:t>
            </a: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для прикладных задач CV.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ru-RU" sz="1050" b="0" dirty="0">
              <a:solidFill>
                <a:prstClr val="black"/>
              </a:solidFill>
              <a:latin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Дальнейшие шаги</a:t>
            </a:r>
          </a:p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Дообучение OCR-модели на специфических данных АО «Метрогипротранс».</a:t>
            </a:r>
          </a:p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Интеграция ПО в существующую IT-инфраструктуру (СЭД).</a:t>
            </a:r>
          </a:p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Разработка модуля количественной оценки (</a:t>
            </a:r>
            <a:r>
              <a:rPr lang="ru-RU" sz="2000" b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precision</a:t>
            </a: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ru-RU" sz="2000" b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recall</a:t>
            </a:r>
            <a:r>
              <a:rPr lang="ru-RU" sz="20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на размеченном датасете.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har char="•"/>
            </a:pPr>
            <a:endParaRPr lang="ru-RU" b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" y="0"/>
            <a:ext cx="12192000" cy="1189881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076324" cy="118988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" y="6581775"/>
            <a:ext cx="12192000" cy="276225"/>
          </a:xfrm>
          <a:prstGeom prst="rect">
            <a:avLst/>
          </a:prstGeom>
          <a:solidFill>
            <a:srgbClr val="4B7194"/>
          </a:solidFill>
          <a:ln>
            <a:solidFill>
              <a:srgbClr val="4B71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338263" y="333330"/>
            <a:ext cx="95154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МИРЭА – Российский технологический университет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584590" y="2936110"/>
            <a:ext cx="70228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800" b="1" dirty="0">
                <a:solidFill>
                  <a:srgbClr val="4B71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</a:t>
            </a:r>
            <a:r>
              <a:rPr kumimoji="0" lang="ru-RU" sz="4800" b="1" i="0" u="none" strike="noStrike" kern="1200" cap="none" spc="0" normalizeH="0" baseline="0" noProof="0" dirty="0">
                <a:ln>
                  <a:noFill/>
                </a:ln>
                <a:solidFill>
                  <a:srgbClr val="4B719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за внимание!</a:t>
            </a:r>
          </a:p>
        </p:txBody>
      </p:sp>
      <p:sp>
        <p:nvSpPr>
          <p:cNvPr id="3" name="SlideNum">
            <a:extLst>
              <a:ext uri="{FF2B5EF4-FFF2-40B4-BE49-F238E27FC236}">
                <a16:creationId xmlns:a16="http://schemas.microsoft.com/office/drawing/2014/main" id="{70CDBB42-C3C5-8316-894C-D2FFC6982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8955" y="6216650"/>
            <a:ext cx="2743200" cy="365125"/>
          </a:xfrm>
        </p:spPr>
        <p:txBody>
          <a:bodyPr/>
          <a:lstStyle/>
          <a:p>
            <a:fld id="{A8B14993-5B25-4EB2-8585-C44A71EDFC68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0861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2182</TotalTime>
  <Words>741</Words>
  <Application>Microsoft Office PowerPoint</Application>
  <PresentationFormat>Широкоэкранный</PresentationFormat>
  <Paragraphs>121</Paragraphs>
  <Slides>10</Slides>
  <Notes>0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Тема Office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Дисциплина «Введение в профессиональную деятельность» 1 курс, 1 семестр 02.03.02 Фундаментальная информатика  и информационные технологии профиль «Искусственный интеллект и машинное обучение»  Лекция 4  Регрессионный анализ данных</dc:title>
  <dc:creator>Шмелева Анна Геннадьевна</dc:creator>
  <cp:lastModifiedBy>Saparmyrat Saparmyradov</cp:lastModifiedBy>
  <cp:revision>192</cp:revision>
  <dcterms:created xsi:type="dcterms:W3CDTF">2020-10-21T19:06:00Z</dcterms:created>
  <dcterms:modified xsi:type="dcterms:W3CDTF">2026-03-26T00:23:26Z</dcterms:modified>
</cp:coreProperties>
</file>